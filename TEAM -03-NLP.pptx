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87" r:id="rId6"/>
    <p:sldId id="260" r:id="rId7"/>
    <p:sldId id="263" r:id="rId8"/>
    <p:sldId id="264" r:id="rId9"/>
    <p:sldId id="265" r:id="rId10"/>
    <p:sldId id="266" r:id="rId11"/>
    <p:sldId id="288" r:id="rId12"/>
    <p:sldId id="268" r:id="rId13"/>
    <p:sldId id="270" r:id="rId14"/>
    <p:sldId id="271" r:id="rId15"/>
    <p:sldId id="289" r:id="rId16"/>
    <p:sldId id="297" r:id="rId17"/>
    <p:sldId id="290" r:id="rId18"/>
    <p:sldId id="298" r:id="rId19"/>
    <p:sldId id="291" r:id="rId20"/>
    <p:sldId id="299" r:id="rId21"/>
    <p:sldId id="292" r:id="rId22"/>
    <p:sldId id="300" r:id="rId23"/>
    <p:sldId id="293" r:id="rId24"/>
    <p:sldId id="301" r:id="rId25"/>
    <p:sldId id="283" r:id="rId26"/>
    <p:sldId id="296" r:id="rId27"/>
    <p:sldId id="294" r:id="rId28"/>
    <p:sldId id="295" r:id="rId29"/>
    <p:sldId id="286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4" userDrawn="1">
          <p15:clr>
            <a:srgbClr val="A4A3A4"/>
          </p15:clr>
        </p15:guide>
        <p15:guide id="2" pos="2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04"/>
        <p:guide pos="211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7321" y="340757"/>
            <a:ext cx="8385809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9755" y="1336619"/>
            <a:ext cx="8449310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0665" y="660467"/>
            <a:ext cx="5980430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4785"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SIMATS</a:t>
            </a:r>
            <a:r>
              <a:rPr sz="1800" b="1" spc="-6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ENGINEERIN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201930" algn="ctr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Saveetha</a:t>
            </a:r>
            <a:r>
              <a:rPr sz="18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Institute</a:t>
            </a:r>
            <a:r>
              <a:rPr sz="18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Medical</a:t>
            </a:r>
            <a:r>
              <a:rPr sz="18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18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Sciences Chennai-602105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800">
              <a:latin typeface="Arial" panose="020B0604020202020204"/>
              <a:cs typeface="Arial" panose="020B0604020202020204"/>
            </a:endParaRPr>
          </a:p>
          <a:p>
            <a:pPr marL="436880">
              <a:lnSpc>
                <a:spcPct val="100000"/>
              </a:lnSpc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8697" y="2618440"/>
            <a:ext cx="7927975" cy="152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n-IN" sz="3500" b="1" dirty="0">
                <a:latin typeface="Times New Roman" panose="02020603050405020304"/>
                <a:cs typeface="Times New Roman" panose="02020603050405020304"/>
                <a:sym typeface="+mn-ea"/>
              </a:rPr>
              <a:t>NLP Based </a:t>
            </a:r>
            <a:r>
              <a:rPr sz="3500" b="1" dirty="0">
                <a:latin typeface="Times New Roman" panose="02020603050405020304"/>
                <a:cs typeface="Times New Roman" panose="02020603050405020304"/>
                <a:sym typeface="+mn-ea"/>
              </a:rPr>
              <a:t>AI-Food</a:t>
            </a:r>
            <a:r>
              <a:rPr sz="3500" b="1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  <a:sym typeface="+mn-ea"/>
              </a:rPr>
              <a:t>Recipe</a:t>
            </a:r>
            <a:r>
              <a:rPr lang="en-IN" sz="35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  <a:sym typeface="+mn-ea"/>
              </a:rPr>
              <a:t>Generator</a:t>
            </a:r>
            <a:r>
              <a:rPr sz="3500" b="1" spc="-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br>
              <a:rPr sz="3500" b="1" spc="-85" dirty="0">
                <a:latin typeface="Times New Roman" panose="02020603050405020304"/>
                <a:cs typeface="Times New Roman" panose="02020603050405020304"/>
                <a:sym typeface="+mn-ea"/>
              </a:rPr>
            </a:br>
            <a:r>
              <a:rPr sz="35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Based</a:t>
            </a:r>
            <a:r>
              <a:rPr lang="en-IN" sz="35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35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Recommendation</a:t>
            </a:r>
            <a:br>
              <a:rPr lang="en-US" sz="2800" spc="-10" dirty="0">
                <a:latin typeface="Times New Roman" panose="02020603050405020304"/>
                <a:cs typeface="Times New Roman" panose="02020603050405020304"/>
                <a:sym typeface="+mn-ea"/>
              </a:rPr>
            </a:b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9248" y="655819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2522" y="658019"/>
            <a:ext cx="712787" cy="914399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543800" y="4139565"/>
            <a:ext cx="4417060" cy="1538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By: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 Goutham(192472024)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Shiva Shankar Reddy(192425174)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B.V.N.S.BHIMESWAR (192472048)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M.Tarun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Prasad (192425024)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N.Lokesh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(192425327)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762001" y="4139565"/>
            <a:ext cx="2091689" cy="85852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>
            <a:defPPr>
              <a:defRPr kern="0"/>
            </a:defPPr>
          </a:lstStyle>
          <a:p>
            <a:pPr marL="3810" algn="l">
              <a:lnSpc>
                <a:spcPct val="100000"/>
              </a:lnSpc>
              <a:spcBef>
                <a:spcPts val="1245"/>
              </a:spcBef>
            </a:pP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Supervisor: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" algn="l">
              <a:lnSpc>
                <a:spcPct val="100000"/>
              </a:lnSpc>
              <a:spcBef>
                <a:spcPts val="1145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Dr.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spc="-80" dirty="0">
                <a:latin typeface="Times New Roman" panose="02020603050405020304"/>
                <a:cs typeface="Times New Roman" panose="02020603050405020304"/>
              </a:rPr>
              <a:t>Anbazhagan K</a:t>
            </a:r>
            <a:endParaRPr lang="en-US" altLang="en-US" sz="1800" spc="-8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2155" y="539234"/>
            <a:ext cx="2314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OVERVIEW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523878" y="1091677"/>
            <a:ext cx="2479040" cy="4612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1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3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30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9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SURVEY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IDENTIFICATION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9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5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CONFIGURATION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ARCHITECTURE</a:t>
            </a:r>
            <a:r>
              <a:rPr sz="9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DIAGRAM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ALGORITHM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35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35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CHART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METHODOLODY</a:t>
            </a:r>
            <a:r>
              <a:rPr sz="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95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1.1</a:t>
            </a:r>
            <a:r>
              <a:rPr sz="95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9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MODULES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5" dirty="0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sz="9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EXPLANATION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 OF</a:t>
            </a:r>
            <a:r>
              <a:rPr sz="9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MODULES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3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30" dirty="0">
                <a:latin typeface="Times New Roman" panose="02020603050405020304"/>
                <a:cs typeface="Times New Roman" panose="02020603050405020304"/>
              </a:rPr>
              <a:t>CODING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 &amp;</a:t>
            </a:r>
            <a:r>
              <a:rPr sz="9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SCREENSHOT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2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CONCLUSION</a:t>
            </a:r>
            <a:r>
              <a:rPr sz="9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9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9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ENHANCEMENT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spc="-10" dirty="0">
                <a:latin typeface="Lucida Sans Unicode" panose="020B0602030504020204"/>
                <a:cs typeface="Lucida Sans Unicode" panose="020B0602030504020204"/>
              </a:rPr>
              <a:t>□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7733" y="301426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1007" y="30362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3446" rIns="0" bIns="0" rtlCol="0">
            <a:spAutoFit/>
          </a:bodyPr>
          <a:lstStyle/>
          <a:p>
            <a:pPr marL="3178175">
              <a:lnSpc>
                <a:spcPct val="100000"/>
              </a:lnSpc>
              <a:spcBef>
                <a:spcPts val="140"/>
              </a:spcBef>
            </a:pPr>
            <a:r>
              <a:rPr sz="3200" spc="-10" dirty="0"/>
              <a:t>ABSTRACT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43000" y="1752600"/>
            <a:ext cx="9337675" cy="330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Develop an NLP-based system for intelligent food recipe recommendation and diet planning.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Recommend suitable recipes based on the user's available ingredients and preferences.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Apply NLP preprocessing to clean, tokenize, and lemmatize ingredient text.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Use TF-IDF and Cosine Similarity to identify and rank relevant recipes.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Analyze nutritional values and diet goals for personalized meal recommendations.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Provide multilingual recipe output along with history and favorites management.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9248" y="655819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2522" y="658019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879" rIns="0" bIns="0" rtlCol="0">
            <a:spAutoFit/>
          </a:bodyPr>
          <a:lstStyle/>
          <a:p>
            <a:pPr marL="1685925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INTRODUCTION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533400" y="1524000"/>
            <a:ext cx="7397115" cy="54981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suitable recipes is difficult due to varying food preferences and dietary needs.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personalized meals based on ingredients, meal type, age, and diet goals.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may not effectively match recipes with available ingredients.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Nutritional values are essential for planning healthy and balanced meals.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AI enable personalized recipe recommendations and multilingual diet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rcRect l="14956" r="9950"/>
          <a:stretch>
            <a:fillRect/>
          </a:stretch>
        </p:blipFill>
        <p:spPr>
          <a:xfrm>
            <a:off x="7930515" y="1600200"/>
            <a:ext cx="3810000" cy="478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763" rIns="0" bIns="0" rtlCol="0">
            <a:spAutoFit/>
          </a:bodyPr>
          <a:lstStyle/>
          <a:p>
            <a:pPr marL="18821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LITERATURE</a:t>
            </a:r>
            <a:r>
              <a:rPr spc="-85" dirty="0"/>
              <a:t> </a:t>
            </a:r>
            <a:r>
              <a:rPr spc="-10" dirty="0"/>
              <a:t>SURVEY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  <p:graphicFrame>
        <p:nvGraphicFramePr>
          <p:cNvPr id="7" name="Table 6"/>
          <p:cNvGraphicFramePr/>
          <p:nvPr/>
        </p:nvGraphicFramePr>
        <p:xfrm>
          <a:off x="1088390" y="1322070"/>
          <a:ext cx="10279380" cy="510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/>
                <a:gridCol w="1713230"/>
                <a:gridCol w="1713230"/>
                <a:gridCol w="1713230"/>
                <a:gridCol w="1713230"/>
                <a:gridCol w="1713230"/>
              </a:tblGrid>
              <a:tr h="41529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Focus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91440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A. et al.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RecipeIS—Recipe Recommendation System Based on Recognition of Food Ingredients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Ingredient-based recipe recommendation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personalized nutrition planning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731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Zioutos et al.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 Personalized Recipe Recommendations for Weekly Meal Planning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collaborative and content-based recommendation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detailed user and health information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91376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Lao et al.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Personalized Recipe Recommendations Based on Facial Health Recognition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Health-aware personalized recipe recommendation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facial health recognition complexity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 Yang et al.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ChatDiet: Personalized Nutrition-Oriented Food Recommender Chatbots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conversational nutrition recommendation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computational complexity and LLM dependency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Wong &amp; Y. Yoannita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and Cosine Similarity for Indonesian Recipe Recommendation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TF-IDF, preprocessing and Cosine Similarity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advanced nutrition and multilingual features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38358" y="687123"/>
            <a:ext cx="3312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00200" y="1524000"/>
            <a:ext cx="8629015" cy="352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Existing recipe platforms provide a large number of recipes with limited personalization.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Users must manually search for recipes using their available ingredients.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Ingredient names entered in different forms may not be matched effectively.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Many systems focus only on recipe recommendation or nutrition analysis separately.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Personalized diet goals are not always considered during recipe selection.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42900" marR="5080" indent="-342900">
              <a:lnSpc>
                <a:spcPct val="14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Multilingual support and integrated history management are often limited.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2035" y="687123"/>
            <a:ext cx="49263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45" dirty="0"/>
              <a:t> </a:t>
            </a:r>
            <a:r>
              <a:rPr spc="-10" dirty="0"/>
              <a:t>IDENTIFICATION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85800" y="1510665"/>
            <a:ext cx="7317740" cy="4759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55600" lvl="1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23939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Users struggle to find recipes matching their available ingredients and dietary goals.</a:t>
            </a:r>
            <a:endParaRPr lang="en-US" altLang="en-US" sz="20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355600" lvl="1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23939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Existing recipe platforms provide limited personalization and nutrition-based recommendations.</a:t>
            </a:r>
            <a:endParaRPr lang="en-US" altLang="en-US" sz="20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355600" lvl="1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23939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There is a need for an NLP-based system that recommends suitable recipes and personalized diet plans.</a:t>
            </a:r>
            <a:endParaRPr lang="en-US" altLang="en-US" sz="20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355600" lvl="1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23939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The system should also provide multilingual and easy-to-understand recipe information.</a:t>
            </a:r>
            <a:endParaRPr lang="en-US" altLang="en-US" sz="20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355600" lvl="1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23939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Users lack a simple system that combines recipe recommendations with personalized nutritional and diet planning.</a:t>
            </a:r>
            <a:endParaRPr lang="en-US" altLang="en-US" sz="2000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9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7395" y="1828800"/>
            <a:ext cx="3460750" cy="3483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409" rIns="0" bIns="0" rtlCol="0">
            <a:spAutoFit/>
          </a:bodyPr>
          <a:lstStyle/>
          <a:p>
            <a:pPr marL="25546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114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24000" y="1600200"/>
            <a:ext cx="8836025" cy="284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Accepts ingredients, meal type, diet goals, age group, and language preferences.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Applies NLP preprocessing to clean and normalize user-entered text.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Uses TF-IDF to convert ingredient text into numerical vectors.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Uses Cosine Similarity to identify and rank relevant recipes.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Analyzes nutrition and applies rule-based filtering for diet recommendations.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595630" algn="l"/>
                <a:tab pos="1649730" algn="l"/>
                <a:tab pos="2213610" algn="l"/>
                <a:tab pos="4044950" algn="l"/>
                <a:tab pos="5535930" algn="l"/>
                <a:tab pos="68453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Provides multilingual recipes with favorites and history management.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5401" rIns="0" bIns="0" rtlCol="0">
            <a:spAutoFit/>
          </a:bodyPr>
          <a:lstStyle/>
          <a:p>
            <a:pPr marL="125984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40" dirty="0"/>
              <a:t> </a:t>
            </a:r>
            <a:r>
              <a:rPr spc="-20" dirty="0"/>
              <a:t>CONFIGURATION</a:t>
            </a:r>
            <a:endParaRPr spc="-20" dirty="0"/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371600" y="1676400"/>
            <a:ext cx="5398135" cy="3875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i3 or above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4 GB minimum, 8 GB recommended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10 GB free disk space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Keyboard and Mouse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Recipe API access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7321" y="340757"/>
            <a:ext cx="8385809" cy="907415"/>
          </a:xfrm>
          <a:prstGeom prst="rect">
            <a:avLst/>
          </a:prstGeom>
        </p:spPr>
        <p:txBody>
          <a:bodyPr vert="horz" wrap="square" lIns="0" tIns="292734" rIns="0" bIns="0" rtlCol="0">
            <a:spAutoFit/>
          </a:bodyPr>
          <a:lstStyle/>
          <a:p>
            <a:pPr marL="30289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ym typeface="+mn-ea"/>
              </a:rPr>
              <a:t>SYSTEM</a:t>
            </a:r>
            <a:r>
              <a:rPr sz="4000" spc="-325" dirty="0">
                <a:sym typeface="+mn-ea"/>
              </a:rPr>
              <a:t> </a:t>
            </a:r>
            <a:r>
              <a:rPr sz="4000" spc="-10" dirty="0">
                <a:sym typeface="+mn-ea"/>
              </a:rPr>
              <a:t>ARCHITECTURE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pic>
        <p:nvPicPr>
          <p:cNvPr id="5" name="Picture 4" descr="ChatGPT Image Aug 12, 2026, 11_37_09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1371600"/>
            <a:ext cx="9874885" cy="5353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46130" y="608846"/>
            <a:ext cx="2314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1447800"/>
            <a:ext cx="9806305" cy="4177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latin typeface="Times New Roman" panose="02020603050405020304"/>
                <a:cs typeface="Times New Roman" panose="02020603050405020304"/>
              </a:rPr>
              <a:t>1. TF-IDF Vectorization Algorithm</a:t>
            </a:r>
            <a:endParaRPr lang="en-US" altLang="en-US" sz="2400" b="1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Used to convert processed user ingredients and recipe ingredients into numerical vectors based on word importance.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latin typeface="Times New Roman" panose="02020603050405020304"/>
                <a:cs typeface="Times New Roman" panose="02020603050405020304"/>
              </a:rPr>
              <a:t>Flow:</a:t>
            </a:r>
            <a:endParaRPr lang="en-US" altLang="en-US" sz="2400" b="1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Processed Text → TF-IDF Vector → Numerical Representation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latin typeface="Times New Roman" panose="02020603050405020304"/>
                <a:cs typeface="Times New Roman" panose="02020603050405020304"/>
              </a:rPr>
              <a:t>2. Rule-Based Recommendation Algorithm</a:t>
            </a:r>
            <a:endParaRPr lang="en-US" altLang="en-US" sz="2400" b="1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Uses predefined conditions to filter recipes according to nutritional values and user diet goals.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 b="1">
                <a:latin typeface="Times New Roman" panose="02020603050405020304"/>
                <a:cs typeface="Times New Roman" panose="02020603050405020304"/>
              </a:rPr>
              <a:t>Example:</a:t>
            </a:r>
            <a:endParaRPr lang="en-US" altLang="en-US" sz="2400" b="1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IF diet goal = High Protein AND protein ≥ required value → Recommend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IF diet goal = Low Calorie AND calories ≤ limit → Recommend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89219" y="757762"/>
            <a:ext cx="2466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spc="-55" dirty="0"/>
              <a:t> </a:t>
            </a:r>
            <a:r>
              <a:rPr spc="-10" dirty="0"/>
              <a:t>CHART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  <p:pic>
        <p:nvPicPr>
          <p:cNvPr id="5" name="Picture 4" descr="ChatGPT Image Aug 25, 2026, 09_32_48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19200"/>
            <a:ext cx="6482715" cy="5344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941" rIns="0" bIns="0" rtlCol="0">
            <a:spAutoFit/>
          </a:bodyPr>
          <a:lstStyle/>
          <a:p>
            <a:pPr marL="267462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LIST</a:t>
            </a:r>
            <a:r>
              <a:rPr sz="2750" spc="-5" dirty="0"/>
              <a:t> </a:t>
            </a:r>
            <a:r>
              <a:rPr sz="2750" dirty="0"/>
              <a:t>OF</a:t>
            </a:r>
            <a:r>
              <a:rPr sz="2750" spc="-60" dirty="0"/>
              <a:t> </a:t>
            </a:r>
            <a:r>
              <a:rPr sz="2750" spc="-10" dirty="0"/>
              <a:t>MODULES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76400" y="1752600"/>
            <a:ext cx="6423025" cy="234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Input &amp; NLP Processing Module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105"/>
              </a:spcBef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 Retrieval &amp; Recommendation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Nutrition Analysis &amp; Personalized Diet Planning Module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365" indent="-367665">
              <a:lnSpc>
                <a:spcPct val="150000"/>
              </a:lnSpc>
              <a:buFont typeface="Wingdings" panose="05000000000000000000" charset="0"/>
              <a:buChar char="Ø"/>
              <a:tabLst>
                <a:tab pos="380365" algn="l"/>
              </a:tabLst>
            </a:pPr>
            <a:r>
              <a:rPr lang="en-US" alt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Recipe Generation, Multilingual Output &amp; History Module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365" indent="-367665">
              <a:lnSpc>
                <a:spcPct val="150000"/>
              </a:lnSpc>
              <a:buFont typeface="Wingdings" panose="05000000000000000000" charset="0"/>
              <a:buChar char="Ø"/>
              <a:tabLst>
                <a:tab pos="3803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Profile, History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Favorites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Management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3995" y="654912"/>
            <a:ext cx="96012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3600" dirty="0"/>
              <a:t>Module-1 User Input &amp; NLP Processing Module</a:t>
            </a:r>
            <a:endParaRPr lang="en-US" altLang="en-US"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981200"/>
            <a:ext cx="10246995" cy="3253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Collect user details including age group, meal type, diet goal, ingredients, and preferred language.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Process and clean the entered ingredient text by removing unwanted words and characters.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Tokenize the ingredient text into individual words for further NLP processing.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Apply lemmatization to convert different ingredient forms into their basic words.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Identify and extract important ingredients from the processed user input.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572770" indent="-4572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Convert the processed ingredient text into numerical vectors using TF-IDF.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7650" y="161925"/>
            <a:ext cx="1000125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0" y="15240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3995" y="654912"/>
            <a:ext cx="9601200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altLang="en-US" sz="3600" dirty="0"/>
              <a:t>Module 1 : OUTPUT</a:t>
            </a:r>
            <a:endParaRPr lang="en-US" altLang="en-US" sz="36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7650" y="161925"/>
            <a:ext cx="1000125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0" y="152400"/>
            <a:ext cx="1104900" cy="1095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530" y="1600200"/>
            <a:ext cx="8914130" cy="4781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457200"/>
            <a:ext cx="9067800" cy="831959"/>
          </a:xfrm>
          <a:prstGeom prst="rect">
            <a:avLst/>
          </a:prstGeom>
        </p:spPr>
        <p:txBody>
          <a:bodyPr vert="horz" wrap="square" lIns="0" tIns="100584" rIns="0" bIns="0" rtlCol="0">
            <a:spAutoFit/>
          </a:bodyPr>
          <a:lstStyle/>
          <a:p>
            <a:pPr marL="13970" algn="ctr">
              <a:lnSpc>
                <a:spcPts val="6465"/>
              </a:lnSpc>
              <a:spcBef>
                <a:spcPts val="105"/>
              </a:spcBef>
            </a:pPr>
            <a:r>
              <a:rPr lang="en-US" altLang="en-US" sz="3500" dirty="0">
                <a:latin typeface="Times New Roman" panose="02020603050405020304"/>
                <a:cs typeface="Times New Roman" panose="02020603050405020304"/>
              </a:rPr>
              <a:t>Module-2 Recipe Retrieval &amp; Recommendation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1981200"/>
            <a:ext cx="10881360" cy="276787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suitable recipes dynamically from the integrated recipe API based on user requirements.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user's available ingredients with ingredients present in retrieved recipes.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similarity between user input and recipes using Cosine Similarity.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the retrieved recipes according to their matching similarity scores.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user preferences such as meal type and diet type during recipe selection.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top relevant recipes as personalized recommendations.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228600"/>
            <a:ext cx="9067800" cy="929005"/>
          </a:xfrm>
          <a:prstGeom prst="rect">
            <a:avLst/>
          </a:prstGeom>
        </p:spPr>
        <p:txBody>
          <a:bodyPr vert="horz" wrap="square" lIns="0" tIns="100584" rIns="0" bIns="0" rtlCol="0">
            <a:spAutoFit/>
          </a:bodyPr>
          <a:lstStyle/>
          <a:p>
            <a:pPr marL="13970" algn="ctr">
              <a:lnSpc>
                <a:spcPts val="6465"/>
              </a:lnSpc>
              <a:spcBef>
                <a:spcPts val="105"/>
              </a:spcBef>
            </a:pPr>
            <a:r>
              <a:rPr lang="en-US" altLang="en-US" sz="3500" dirty="0">
                <a:latin typeface="Times New Roman" panose="02020603050405020304"/>
                <a:cs typeface="Times New Roman" panose="02020603050405020304"/>
              </a:rPr>
              <a:t>Module-2 : OUTPUT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343025"/>
            <a:ext cx="7785735" cy="5284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50" y="607186"/>
            <a:ext cx="9156700" cy="1300228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altLang="en-US" sz="3500" spc="-10" dirty="0"/>
              <a:t>Module-3 Nutrition Analysis &amp; Personalized Diet Planning Module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24535" y="2514600"/>
            <a:ext cx="10995660" cy="28146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Analyze nutritional values including calories, protein, carbohydrates, fat, and fiber.</a:t>
            </a:r>
            <a:endParaRPr lang="en-US" altLang="en-US" sz="2000" spc="-1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Consider the user's selected diet goal while evaluating recommended recipes.</a:t>
            </a:r>
            <a:endParaRPr lang="en-US" altLang="en-US" sz="2000" spc="-1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Filter recipes according to the user's required nutritional preferences and restrictions.</a:t>
            </a:r>
            <a:endParaRPr lang="en-US" altLang="en-US" sz="2000" spc="-1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Apply predefined nutritional and dietary rules for personalized recommendations.</a:t>
            </a:r>
            <a:endParaRPr lang="en-US" altLang="en-US" sz="2000" spc="-1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Combine suitable recipes to generate a personalized daily or weekly meal plan.</a:t>
            </a:r>
            <a:endParaRPr lang="en-US" altLang="en-US" sz="2000" spc="-1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pc="-10" dirty="0"/>
              <a:t>Provide healthy meal suggestions that match the user's nutritional requirements.</a:t>
            </a:r>
            <a:endParaRPr lang="en-US" altLang="en-US" sz="2000"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9550" y="16192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0" y="152400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50" y="607186"/>
            <a:ext cx="9156700" cy="758825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altLang="en-US" sz="3500" spc="-10" dirty="0"/>
              <a:t>Module-3 OUTPUT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9550" y="16192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0" y="152400"/>
            <a:ext cx="1104900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676400"/>
            <a:ext cx="8268335" cy="4857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49" y="149288"/>
            <a:ext cx="9156700" cy="1297305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altLang="en-US" sz="3500" spc="-10" dirty="0"/>
              <a:t>Module-4 Recipe Generation, Multilingual Output &amp; History Module</a:t>
            </a:r>
            <a:endParaRPr sz="35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209800"/>
            <a:ext cx="10668000" cy="281339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clear and structured recipe information from the selected recipe details.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Natural Language Generation to produce simple and human-readable cooking instructions.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recipe names, ingredients, and instructions into the user's preferred language.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complete recipe information including ingredients, quantities, and preparation steps.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save recommended recipes as favorites for quick access later.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recipe history to help users view their previously accessed recommendations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161925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199" y="304863"/>
            <a:ext cx="9156700" cy="758825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altLang="en-US" sz="3500" spc="-10" dirty="0"/>
              <a:t>Module-4  Output </a:t>
            </a:r>
            <a:endParaRPr sz="35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161925"/>
            <a:ext cx="1104900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000"/>
            <a:ext cx="8333105" cy="53047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181610"/>
            <a:ext cx="9156700" cy="1297305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algn="ctr"/>
            <a:r>
              <a:rPr lang="en-IN" sz="3500" dirty="0"/>
              <a:t>Module 5: User Profile, History &amp; </a:t>
            </a:r>
            <a:r>
              <a:rPr lang="en-IN" sz="3500" dirty="0" err="1"/>
              <a:t>Favorites</a:t>
            </a:r>
            <a:r>
              <a:rPr lang="en-IN" sz="3500" dirty="0"/>
              <a:t> Management</a:t>
            </a:r>
            <a:endParaRPr lang="en-IN"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905000"/>
            <a:ext cx="11262995" cy="327506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user preferences such as diet goals, meal choices, and preferred language for future recommendations.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history of previously searched, viewed, and recommended recipes for easy access.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save their preferred recipes in 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 for future reference.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saved preferences and history to improve personalized recipe recommendations over time.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revisit previously generated diet plans and recipe suggestions whenever required.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data securely to provide a more personalized and convenient system experience.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161925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181610"/>
            <a:ext cx="9156700" cy="835660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algn="ctr"/>
            <a:r>
              <a:rPr lang="en-IN" sz="4000" dirty="0"/>
              <a:t>Module 5: </a:t>
            </a:r>
            <a:r>
              <a:rPr lang="en-US" altLang="en-IN" sz="4000" dirty="0"/>
              <a:t>Output</a:t>
            </a:r>
            <a:endParaRPr lang="en-US" altLang="en-IN" sz="4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4700" y="161925"/>
            <a:ext cx="1104900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143000"/>
            <a:ext cx="8179435" cy="52063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99983" y="641299"/>
            <a:ext cx="658939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85" dirty="0"/>
              <a:t>RESULT</a:t>
            </a:r>
            <a:r>
              <a:rPr sz="4400" spc="-180" dirty="0"/>
              <a:t> 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4400" y="1524000"/>
            <a:ext cx="10417175" cy="42043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The system successfully processes user-entered ingredient information using NLP techniques.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TF-IDF converts processed ingredient text into numerical representations.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Cosine Similarity identifies recipes that closely match available ingredients.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Nutrition-based filtering improves the relevance of recommended meals.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Personalized diet goals help users select healthier and suitable recipes.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55600" marR="169545" indent="-342900" algn="just">
              <a:lnSpc>
                <a:spcPct val="150000"/>
              </a:lnSpc>
              <a:spcBef>
                <a:spcPts val="425"/>
              </a:spcBef>
              <a:buFont typeface="Wingdings" panose="05000000000000000000" charset="0"/>
              <a:buChar char="Ø"/>
              <a:tabLst>
                <a:tab pos="4281170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Multilingual output and history features improve overall usability.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81" y="255174"/>
            <a:ext cx="909637" cy="9001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7406" y="255174"/>
            <a:ext cx="712787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375" y="495300"/>
            <a:ext cx="5858510" cy="1007110"/>
          </a:xfrm>
          <a:prstGeom prst="rect">
            <a:avLst/>
          </a:prstGeom>
        </p:spPr>
        <p:txBody>
          <a:bodyPr vert="horz" wrap="square" lIns="0" tIns="337693" rIns="0" bIns="0" rtlCol="0">
            <a:noAutofit/>
          </a:bodyPr>
          <a:lstStyle/>
          <a:p>
            <a:pPr marL="2515870">
              <a:lnSpc>
                <a:spcPct val="100000"/>
              </a:lnSpc>
              <a:spcBef>
                <a:spcPts val="105"/>
              </a:spcBef>
            </a:pPr>
            <a:r>
              <a:rPr sz="3500" spc="-10" dirty="0"/>
              <a:t>CONCLUSION</a:t>
            </a:r>
            <a:endParaRPr sz="35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80235"/>
            <a:ext cx="10559415" cy="39427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The system provides personalized recipe recommendations based on user ingredients and preferences.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NLP techniques improve ingredient matching and recipe retrieval.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Nutrition analysis helps users make healthier dietary choices.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Personalized meal plans support different dietary goals and nutritional needs.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Multilingual recipe generation makes the system accessible and user-friendly.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240030" marR="7620" indent="-227965" algn="just">
              <a:lnSpc>
                <a:spcPct val="15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2197100" algn="l"/>
                <a:tab pos="2774315" algn="l"/>
                <a:tab pos="4458970" algn="l"/>
                <a:tab pos="5782945" algn="l"/>
                <a:tab pos="6584950" algn="l"/>
                <a:tab pos="8315325" algn="l"/>
                <a:tab pos="9662160" algn="l"/>
              </a:tabLst>
            </a:pP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7575" y="1880235"/>
            <a:ext cx="10559415" cy="27794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recipe recommendations by learning from user preferences and previous choices.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 input to allow users to enter ingredients and preferences easily.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detailed meal plans based on individual nutritional requirements.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regional and international languages for better accessibility.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recipes based on specific health and dietary requirements.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recommendations using user ratings,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feedback.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sp>
        <p:nvSpPr>
          <p:cNvPr id="6" name="Title 5"/>
          <p:cNvSpPr/>
          <p:nvPr>
            <p:ph type="title"/>
          </p:nvPr>
        </p:nvSpPr>
        <p:spPr>
          <a:xfrm>
            <a:off x="1931941" y="685562"/>
            <a:ext cx="8385809" cy="538480"/>
          </a:xfrm>
        </p:spPr>
        <p:txBody>
          <a:bodyPr/>
          <a:p>
            <a:pPr algn="ctr"/>
            <a:r>
              <a:rPr lang="en-US" sz="3500"/>
              <a:t>FUTURE ENHANCEMENT</a:t>
            </a:r>
            <a:endParaRPr lang="en-US" sz="3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49" y="149288"/>
            <a:ext cx="9156700" cy="1572097"/>
          </a:xfrm>
          <a:prstGeom prst="rect">
            <a:avLst/>
          </a:prstGeom>
        </p:spPr>
        <p:txBody>
          <a:bodyPr vert="horz" wrap="square" lIns="0" tIns="337693" rIns="0" bIns="0" rtlCol="0">
            <a:spAutoFit/>
          </a:bodyPr>
          <a:lstStyle/>
          <a:p>
            <a:pPr marL="2515870">
              <a:spcBef>
                <a:spcPts val="105"/>
              </a:spcBef>
            </a:pPr>
            <a:r>
              <a:rPr lang="en-IN" sz="4000" dirty="0"/>
              <a:t>References</a:t>
            </a:r>
            <a:br>
              <a:rPr lang="en-IN" sz="4000" dirty="0"/>
            </a:br>
            <a:endParaRPr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80235"/>
            <a:ext cx="10559415" cy="3241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Beedareddy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S. R. (2024),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RecipeBERT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Personalized Food Recommendations, IEEE WI-IAT.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Nair, K. A., et al. (2024), Recipe-Fusion: Multimodal Food Recipe Recommendation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Pic2Plate: A Vision-Language and Retrieval-Augmented Framework for Personalized Recipe Recommendations (2025).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Sowdanya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S., et al. (2025), Recipe Recommendation Engine, ICRCET.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Healthy Recipe Recommender Web Application for Diabetic Diets (2025).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98835" y="2066897"/>
            <a:ext cx="42075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THANK</a:t>
            </a:r>
            <a:r>
              <a:rPr sz="5400" spc="-225" dirty="0"/>
              <a:t> </a:t>
            </a:r>
            <a:r>
              <a:rPr sz="5400" spc="-25" dirty="0"/>
              <a:t>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9604</Words>
  <Application>WPS Presentation</Application>
  <PresentationFormat>On-screen Show (4:3)</PresentationFormat>
  <Paragraphs>297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SimSun</vt:lpstr>
      <vt:lpstr>Wingdings</vt:lpstr>
      <vt:lpstr>Times New Roman</vt:lpstr>
      <vt:lpstr>Arial</vt:lpstr>
      <vt:lpstr>Calibri</vt:lpstr>
      <vt:lpstr>Lucida Sans Unicode</vt:lpstr>
      <vt:lpstr>Microsoft YaHei</vt:lpstr>
      <vt:lpstr>Arial Unicode MS</vt:lpstr>
      <vt:lpstr>Times New Roman</vt:lpstr>
      <vt:lpstr>Calibri</vt:lpstr>
      <vt:lpstr>-apple-system-body</vt:lpstr>
      <vt:lpstr>Segoe Print</vt:lpstr>
      <vt:lpstr>Wingdings</vt:lpstr>
      <vt:lpstr>Arial MT</vt:lpstr>
      <vt:lpstr>Office Theme</vt:lpstr>
      <vt:lpstr>PowerPoint 演示文稿</vt:lpstr>
      <vt:lpstr>OVERVIEW</vt:lpstr>
      <vt:lpstr>ABSTRACT</vt:lpstr>
      <vt:lpstr>INTRODUCTION</vt:lpstr>
      <vt:lpstr>LITERATURE SURVEY</vt:lpstr>
      <vt:lpstr>EXISTING SYSTEM</vt:lpstr>
      <vt:lpstr>PROBLEM IDENTIFICATION</vt:lpstr>
      <vt:lpstr>PROPOSED SYSTEM</vt:lpstr>
      <vt:lpstr>SYSTEM CONFIGURATION</vt:lpstr>
      <vt:lpstr>SYSTEM ARCHITECTURE</vt:lpstr>
      <vt:lpstr>ALGORITHM</vt:lpstr>
      <vt:lpstr>FLOW CHART</vt:lpstr>
      <vt:lpstr>LIST OF MODULES</vt:lpstr>
      <vt:lpstr>Module-1 User Input &amp; NLP Processing Module</vt:lpstr>
      <vt:lpstr>Module-1 User Input &amp; NLP Processing Module</vt:lpstr>
      <vt:lpstr>Module-2 Recipe Retrieval &amp; Recommendation</vt:lpstr>
      <vt:lpstr>Module-2 Recipe Retrieval &amp; Recommendation</vt:lpstr>
      <vt:lpstr>Module-3 Nutrition Analysis &amp; Personalized Diet Planning Module</vt:lpstr>
      <vt:lpstr>Module-3 Nutrition Analysis &amp; Personalized Diet Planning Module</vt:lpstr>
      <vt:lpstr>Module-4 Recipe Generation, Multilingual Output &amp; History Module</vt:lpstr>
      <vt:lpstr>Module-4 Recipe Generation, Multilingual Output &amp; History Module</vt:lpstr>
      <vt:lpstr>Module 5: User Profile, History &amp; Favorites Management</vt:lpstr>
      <vt:lpstr>Module 5: User Profile, History &amp; Favorites Management</vt:lpstr>
      <vt:lpstr>RESULT &amp;CONCLUSION</vt:lpstr>
      <vt:lpstr>CONCLUSION</vt:lpstr>
      <vt:lpstr>Future Scope</vt:lpstr>
      <vt:lpstr>References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 Investigation-SIMATS-Latest_PPT.pptx</dc:title>
  <dc:creator/>
  <cp:lastModifiedBy>Shiva Shankar Reddy</cp:lastModifiedBy>
  <cp:revision>26</cp:revision>
  <dcterms:created xsi:type="dcterms:W3CDTF">2026-08-25T03:41:16Z</dcterms:created>
  <dcterms:modified xsi:type="dcterms:W3CDTF">2026-08-25T04:26:43Z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2026-08-25T05:30:00Z</vt:filetime>
  </property>
  <property fmtid="{D5CDD505-2E9C-101B-9397-08002B2CF9AE}" pid="4" name="Creator">
    <vt:lpwstr>Google</vt:lpwstr>
  </property>
  <property fmtid="{D5CDD505-2E9C-101B-9397-08002B2CF9AE}" pid="5" name="LastSaved">
    <vt:filetime>2026-08-25T05:30:00Z</vt:filetime>
  </property>
  <property fmtid="{D5CDD505-2E9C-101B-9397-08002B2CF9AE}" pid="6" name="ICV">
    <vt:lpwstr>1FC3A6759DB246B085CB63BAE66FDC83_13</vt:lpwstr>
  </property>
  <property fmtid="{D5CDD505-2E9C-101B-9397-08002B2CF9AE}" pid="7" name="KSOProductBuildVer">
    <vt:lpwstr>1033-12.1.0.28032</vt:lpwstr>
  </property>
</Properties>
</file>